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651760"/>
          </a:xfrm>
          <a:prstGeom prst="rect">
            <a:avLst/>
          </a:prstGeom>
          <a:solidFill>
            <a:srgbClr val="F7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23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6B2A91"/>
                </a:solidFill>
                <a:latin typeface="맑은 고딕"/>
              </a:rPr>
              <a:t>요양시설 스튜디오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맑은 고딕"/>
              </a:rPr>
              <a:t>화면 기록 — 무엇을 왜 만들었나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95959"/>
                </a:solidFill>
                <a:latin typeface="맑은 고딕"/>
              </a:rPr>
              <a:t>주간보호센터·소형 요양원용 돌봄 업무 앱 · 1단계 (2026-08 중단 시점)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맑은 고딕"/>
              </a:rPr>
              <a:t>화면마다 '하는 일 / 근거 / 알아둘 것'을 적었다. 근거는 법정 서식·평가지표·서비스모델 논문에서 옮긴 것이다.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맑은 고딕"/>
              </a:rPr>
              <a:t>국립재활원 재활보조기술연구과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하루를 열면 오늘 챙길 것이 다 보인다.</a:t>
            </a:r>
          </a:p>
        </p:txBody>
      </p:sp>
      <p:pic>
        <p:nvPicPr>
          <p:cNvPr id="6" name="Picture 5" descr="01_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오늘 근무자·등원 현황을 맨 위에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스토리 줄 = 오늘 등원한 이용자. 링 색이 상태다 — 그라디언트는 아직 채울 칸 있음, 빨강은 주의사항 있음, 회색은 완료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숫자 넷: 등원 / 결석 / 출결 미확인 / 서식 빈 칸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카드로 내려가며 공지 · 기한 지난 기록 · 수급자별 기한 · 손봐야 할 기기 · 오늘 주의 · 안 채운 칸 · 프로그램 · 인계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논문 AS-IS 문제 3 — 기록이 일과 끝에 몰린다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평가지표의 주기를 앱이 세어 홈에서 먼저 알린다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인스타그램 화면 구성을 따랐다(앱바 → 스토리 → 피드). 현장에서 '무엇부터 볼지' 고민하지 않게 하려는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케어 기록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급여제공기록지를 현장에서 바로 채운다.</a:t>
            </a:r>
          </a:p>
        </p:txBody>
      </p:sp>
      <p:pic>
        <p:nvPicPr>
          <p:cNvPr id="6" name="Picture 5" descr="02_케어기록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출결부터 찍는다(등원/결석/미확인) — 등원한 사람만 아래에 뜬다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🎤 말해서 기록: 말하면 초안이 뜨고, 확인 후 저장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급여시간(시작·종료·총시간 자동)과 이동서비스 차량번호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3구역 12항목: 신체활동지원 · 간호 및 처치 · 기능회복훈련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구역마다 특이사항과 작성자를 따로 남긴다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시행규칙 별지 제15호서식 급여제공기록지(주·야간보호), 개정 2019.9.27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서식 유의사항 반영 — 화장실은 총 횟수(기저귀는 교환 횟수), 목욕은 소요시간+방법, 식사는 종류+섭취량, 프로그램은 프로그램명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자동 확정 저장이 없다. 음성이든 화면이든 사람이 눌러야 저장된다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누가 언제 무엇을 음성/화면 중 무엇으로 넣었는지 따로 쌓는다(감사 기록)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인계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다음 교대가 알아야 할 것을 기억에 의존하지 않게.</a:t>
            </a:r>
          </a:p>
        </p:txBody>
      </p:sp>
      <p:pic>
        <p:nvPicPr>
          <p:cNvPr id="6" name="Picture 5" descr="03_인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이용자 + 종류(건강 / 정서·행동 / 가족 연락 / 기기·환경 / 기타) + 내용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받은 사람이 '확인함'을 누르면 누가 언제 봤는지 남는다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홈과 일지에도 함께 뜬다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논문 AS-IS 문제 2 — 정서·인지 부담, 인계가 사람 머릿속에만 있다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음성으로 말했는데 서식 항목이 아니면(예: "기분이 안 좋으세요") 케어 기록에서 '인계로 넘기기'로 보낼 수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일지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하루 기록을 모으고, 보호자 알림장까지 만든다.</a:t>
            </a:r>
          </a:p>
        </p:txBody>
      </p:sp>
      <p:pic>
        <p:nvPicPr>
          <p:cNvPr id="6" name="Picture 5" descr="04_일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이용자별로 그날 서식·인계를 시간순으로 묶어 보여준다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보호자 알림장: 적어 둔 기록에서 문장을 자동으로 만든다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월간 내보내기: 한 달치 급여제공기록지를 CSV 로(엑셀에서 바로 열림)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평가 대응·공단 제출 때 한 달치를 한 번에 뽑기 위함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보호자에게 보내는 기능은 일부러 안 넣었다. 자동 발송하면 잘못 들어간 기록이 그대로 나간다. 문장만 만들고 사람이 읽어본 뒤 문자·카톡으로 보낸다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사정·상담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연 1회·분기·반기로 돌아오는 것들을 한 화면에.</a:t>
            </a:r>
          </a:p>
        </p:txBody>
      </p:sp>
      <p:pic>
        <p:nvPicPr>
          <p:cNvPr id="6" name="Picture 5" descr="05_사정_상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욕구사정 9항목 — 신체·질병·인지·의사소통·영양·가족환경· 주관적 욕구·자원이용·구강상태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상담 — 상담일자·수급자·상담직원·상담대상자(관계)·상담내용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결과평가 — 목표달성·상태변화·계획반영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수급자별로 기한이 지난 것을 맨 위에 붉게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지표 30 욕구사정 연 1회 이상(대면 원칙)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지표 25 상담 분기 1회 이상 — 필수기재 5개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지표 44 결과평가 반기 — 결과 반영해 계획서 30일 이내 재작성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매뉴얼이 못박은 것을 화면에 그대로 띄웠다 — 단순 체크는 인정 안 된다. 판단 근거를 서술해야 한다.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욕구사정 9번(구강상태)은 추정이다. 매뉴얼이 '9개'라면서 8개만 열거해 화면에 '※ 확인 필요'를 표시해 뒀다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급여제공계획서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급여 시작 전에 쓰고, 동의를 받아 공단에 통보한다.</a:t>
            </a:r>
          </a:p>
        </p:txBody>
      </p:sp>
      <p:pic>
        <p:nvPicPr>
          <p:cNvPr id="6" name="Picture 5" descr="06_급여제공계획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머리 10칸(등급·인정번호·유효기간·급여종류·계약일·적용기간 등)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목표 + 내용 표(필요영역·세부목표·필요내용·세부 제공내용·횟수·시간)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종합의견 · 작성자 · 총괄 확인자 · 동의자(성명·관계·동의일)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계획서가 없는 이용자를 목록으로 알려준다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시행규칙 별지 제11호의4서식, 개정 2021.6.30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지표 22 — 연 1회 이상 수립, 확인서명, 급여개시일까지 공단 통보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동의 정보가 비면 붉게 경고한다. 서식상 동의 없이 공단 통보를 할 수 없기 때문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대장·점검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빠뜨리기 쉬운 12가지를, 주기를 세어 알려준다.</a:t>
            </a:r>
          </a:p>
        </p:txBody>
      </p:sp>
      <p:pic>
        <p:nvPicPr>
          <p:cNvPr id="6" name="Picture 5" descr="07_대장_점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0">
                <a:solidFill>
                  <a:srgbClr val="1A1A1A"/>
                </a:solidFill>
                <a:latin typeface="맑은 고딕"/>
              </a:rPr>
              <a:t>· 신체기능 프로그램(주3회) · 인지기능 프로그램(주3회) · 사회적응 프로그램(월1회)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0">
                <a:solidFill>
                  <a:srgbClr val="1A1A1A"/>
                </a:solidFill>
                <a:latin typeface="맑은 고딕"/>
              </a:rPr>
              <a:t>· 차량운행일지(매일) · 실내환기 점검(매일) · 소방설비(매월)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0">
                <a:solidFill>
                  <a:srgbClr val="1A1A1A"/>
                </a:solidFill>
                <a:latin typeface="맑은 고딕"/>
              </a:rPr>
              <a:t>· 소독·감염관리(분기) · 재난훈련(반기) · 사례관리 회의(반기) · 위험도 평가(반기) · 종사자 교육(매년) · 건강검진(매년)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0">
                <a:solidFill>
                  <a:srgbClr val="1A1A1A"/>
                </a:solidFill>
                <a:latin typeface="맑은 고딕"/>
              </a:rPr>
              <a:t>· 마지막 기록일로부터 며칠 지났는지 세어 기한 초과를 붉게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0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맑은 고딕"/>
              </a:rPr>
              <a:t>· 2026 재가급여(주야간보호) 평가매뉴얼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맑은 고딕"/>
              </a:rPr>
              <a:t>· 지표 24·25·26(프로그램) · 28(이동서비스) · 9(환기) · 16(소독) · 13(소방) · 11(재난) · 29(사례관리) · 20·21(위험도) · 6(교육) · 15(검진)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0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맑은 고딕"/>
              </a:rPr>
              <a:t>· 기록하는 것 자체는 어렵지 않다. 빠뜨리는 게 문제다. 평가에서 '이거 언제 했냐'에 답이 안 나오면 점수가 깎인다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맑은 고딕"/>
              </a:rPr>
              <a:t>· 프로그램을 셋으로 나눈 이유 — 한 대장에 묶으면 사회적응(월1회)이 신체기능(주3회) 주기에 묻힌다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이용자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명부와 주의사항, 그리고 오늘 남은 것.</a:t>
            </a:r>
          </a:p>
        </p:txBody>
      </p:sp>
      <p:pic>
        <p:nvPicPr>
          <p:cNvPr id="6" name="Picture 5" descr="08_이용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이름(가명·코드 권장) · 생년 · 자리 · 주의사항 · 메모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주의사항은 붉게 — 낙상 위험, 삼킴 곤란처럼 놓치면 사고가 되는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이용자마다 오늘 서식에서 안 채운 칸을 보여준다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논문 AS-IS 문제 2 — 기능 수준이 다른 이용자가 한 프로그램에 섞인다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시연 단계에서는 가명·코드로 등록하도록 화면에 안내한다. 음성 인식이 이름을 구글 서버로 보내기 때문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기기 대장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돌봄로봇·센서와 그 매뉴얼. 우리만 있는 화면.</a:t>
            </a:r>
          </a:p>
        </p:txBody>
      </p:sp>
      <p:pic>
        <p:nvPicPr>
          <p:cNvPr id="6" name="Picture 5" descr="09_기기대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기기명·제조사·모델·위치·상태(사용중/점검중/고장/보관/반납)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기기마다 매뉴얼·설치안내·문제해결·A/S 문의처 링크를 붙인다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홈에서 '손봐야 할 기기'(고장·점검중)를 따로 알린다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논문 AS-IS 문제 4 — 기기는 들어오기만 하고 문제가 생겨도 공급자에게 돌아갈 길이 없다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예시 8종은 논문 TO-BE 블루프린트에서 옮겼다 — 근력지원·이동·이승·배설·식사·목욕·모니터링·의사소통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민간 ERP 조사 결과 이 칸이 어디에도 없다. 케어포 11개 메뉴, 이지케어 12개 메뉴 어디에도 기기·로봇이 없다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파일이 아니라 링크를 받는다 — 제조사가 개정하면 저절로 최신본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근무표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누가 언제 근무했는지 남긴다.</a:t>
            </a:r>
          </a:p>
        </p:txBody>
      </p:sp>
      <p:pic>
        <p:nvPicPr>
          <p:cNvPr id="6" name="Picture 5" descr="10_근무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직원별로 주간·오전·오후·야간·휴무·연차·교육 지정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오늘 근무자는 홈 맨 위에 뜬다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지표 3 인력기준 준수 · 지표 4 인력 추가배치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고시 — 근무일지에 근무일자·출퇴근시간을 적어 보관해야 한다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출퇴근 자동 기록(NFC)은 안 만들었다. 민간 ERP 영역이다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구매요청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현장에서 떨어지는 것을 적어 둔다.</a:t>
            </a:r>
          </a:p>
        </p:txBody>
      </p:sp>
      <p:pic>
        <p:nvPicPr>
          <p:cNvPr id="6" name="Picture 5" descr="11_구매요청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품목·분류(위생소모품/식자재/프로그램 재료/의료간호/사무/기기/기타)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수량·사유 · 상태(요청 → 구매중 → 완료/보류)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처리 대기와 완료를 나눠 보여준다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평가지표가 요구하는 것은 아니다. 현장 편의 기능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Dolbom Studio 의 구매요청서 화면을 시설용으로 줄인 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공지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시설 전체에 알릴 것.</a:t>
            </a:r>
          </a:p>
        </p:txBody>
      </p:sp>
      <p:pic>
        <p:nvPicPr>
          <p:cNvPr id="6" name="Picture 5" descr="12_공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누구나 등록·삭제. 홈 맨 위 카드로 뜬다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Dolbom Studio 의 팀 공지와 같은 구조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건의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쓰다가 불편한 것을 남긴다.</a:t>
            </a:r>
          </a:p>
        </p:txBody>
      </p:sp>
      <p:pic>
        <p:nvPicPr>
          <p:cNvPr id="6" name="Picture 5" descr="13_건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분류 4종(개선·오류·문의·기기 이상), 상태 4종(접수·진행중·완료·보류)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현장 의견이 있어야 다음 단계를 정할 수 있다. Dolbom Studio 의 '개선 요청'과 같은 자리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직원·설정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직원·PIN·백업.</a:t>
            </a:r>
          </a:p>
        </p:txBody>
      </p:sp>
      <p:pic>
        <p:nvPicPr>
          <p:cNvPr id="6" name="Picture 5" descr="14_직원_설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직원 등록(요양보호사·사회복지사·간호(조무)사·물리작업치료사·센터장·운전원)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PIN 발급 — 숫자 4~8자리. 하나라도 걸면 로그인 화면이 생긴다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케어 항목 목록 확인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전체 데이터 백업(zip)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근거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이용자 건강정보를 다루므로 잠금이 필요하다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PIN 은 pbkdf2-sha256 해시로만 저장 — 사람이 못 읽고 재발급만 된다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시설 안 공용PC 기준의 최소 잠금이다. 인터넷에 공개하려면 이걸로 부족하다(계정·2단계 인증 필요)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데이터는 이 PC 로컬 JSON 뿐이다. 날리면 복구가 안 되니 주기적으로 백업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6B2A91"/>
                </a:solidFill>
                <a:latin typeface="맑은 고딕"/>
              </a:rPr>
              <a:t>다크 모드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280160" cy="28575"/>
          </a:xfrm>
          <a:prstGeom prst="rect">
            <a:avLst/>
          </a:prstGeom>
          <a:solidFill>
            <a:srgbClr val="C02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9264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맑은 고딕"/>
              </a:rPr>
              <a:t>밝은 화면이 눈부신 사람을 위해.</a:t>
            </a:r>
          </a:p>
        </p:txBody>
      </p:sp>
      <p:pic>
        <p:nvPicPr>
          <p:cNvPr id="6" name="Picture 5" descr="15_다크모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4898571"/>
          </a:xfrm>
          <a:prstGeom prst="rect">
            <a:avLst/>
          </a:prstGeom>
          <a:ln w="9525">
            <a:solidFill>
              <a:srgbClr val="C7C7C7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589520" y="1371600"/>
            <a:ext cx="4099255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7C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536192"/>
            <a:ext cx="3696919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하는 일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1A1A1A"/>
                </a:solidFill>
                <a:latin typeface="맑은 고딕"/>
              </a:rPr>
              <a:t>· 사이드바 버튼으로 전환. 계정별로 기억한다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170" b="1">
                <a:solidFill>
                  <a:srgbClr val="C0206B"/>
                </a:solidFill>
                <a:latin typeface="맑은 고딕"/>
              </a:rPr>
              <a:t>알아둘 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순백 글씨는 눈부시다(18.7:1). 그렇다고 낮추면 시력 저하자가 못 읽는다. → 본문 #DAD7D2 로 13:1 에 맞췄다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인스타그램 원색은 흰 배경에서 대비가 모자란다 (회색 3.3 · 파랑 3.2 · 빨강 3.7 — 본문 기준 4.5). 진한 색으로 바꾸고 원색은 그라디언트 배경에만 남겼다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