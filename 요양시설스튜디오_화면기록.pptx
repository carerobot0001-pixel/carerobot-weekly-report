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7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6B2A91"/>
                </a:solidFill>
                <a:latin typeface="맑은 고딕"/>
              </a:rPr>
              <a:t>요양시설 스튜디오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맑은 고딕"/>
              </a:rPr>
              <a:t>화면 기록 — 기능별 캡처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95959"/>
                </a:solidFill>
                <a:latin typeface="맑은 고딕"/>
              </a:rPr>
              <a:t>주간보호센터·소형 요양원용 돌봄 업무 앱 · 1단계 (2026-08 중단 시점)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맑은 고딕"/>
              </a:rPr>
              <a:t>국립재활원 재활보조기술연구과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6B2A91"/>
                </a:solidFill>
                <a:latin typeface="맑은 고딕"/>
              </a:rPr>
              <a:t>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463040" cy="28575"/>
          </a:xfrm>
          <a:prstGeom prst="rect">
            <a:avLst/>
          </a:prstGeom>
          <a:solidFill>
            <a:srgbClr val="C02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맑은 고딕"/>
              </a:rPr>
              <a:t>오늘 근무·등원 현황·기한 지난 기록을 한 화면에. 스토리 줄은 등원한 이용자(링 색으로 남은 칸 표시)</a:t>
            </a:r>
          </a:p>
        </p:txBody>
      </p:sp>
      <p:pic>
        <p:nvPicPr>
          <p:cNvPr id="6" name="Picture 5" descr="01_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463040"/>
            <a:ext cx="7040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6B2A91"/>
                </a:solidFill>
                <a:latin typeface="맑은 고딕"/>
              </a:rPr>
              <a:t>케어 기록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463040" cy="28575"/>
          </a:xfrm>
          <a:prstGeom prst="rect">
            <a:avLst/>
          </a:prstGeom>
          <a:solidFill>
            <a:srgbClr val="C02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맑은 고딕"/>
              </a:rPr>
              <a:t>별지 제15호서식 그대로. 출결 → 음성 기록 → 서식 채우기. 목욕 분·방법, 식사 종류·섭취량까지</a:t>
            </a:r>
          </a:p>
        </p:txBody>
      </p:sp>
      <p:pic>
        <p:nvPicPr>
          <p:cNvPr id="6" name="Picture 5" descr="02_케어기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463040"/>
            <a:ext cx="7040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6B2A91"/>
                </a:solidFill>
                <a:latin typeface="맑은 고딕"/>
              </a:rPr>
              <a:t>인계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463040" cy="28575"/>
          </a:xfrm>
          <a:prstGeom prst="rect">
            <a:avLst/>
          </a:prstGeom>
          <a:solidFill>
            <a:srgbClr val="C02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맑은 고딕"/>
              </a:rPr>
              <a:t>다음 교대가 알아야 할 것. 누가 확인했는지 남는다 (논문 문제2)</a:t>
            </a:r>
          </a:p>
        </p:txBody>
      </p:sp>
      <p:pic>
        <p:nvPicPr>
          <p:cNvPr id="6" name="Picture 5" descr="03_인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463040"/>
            <a:ext cx="7040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6B2A91"/>
                </a:solidFill>
                <a:latin typeface="맑은 고딕"/>
              </a:rPr>
              <a:t>일지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463040" cy="28575"/>
          </a:xfrm>
          <a:prstGeom prst="rect">
            <a:avLst/>
          </a:prstGeom>
          <a:solidFill>
            <a:srgbClr val="C02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맑은 고딕"/>
              </a:rPr>
              <a:t>하루 기록을 이용자별로 모음 + 보호자 알림장 자동 생성 + 월간 CSV</a:t>
            </a:r>
          </a:p>
        </p:txBody>
      </p:sp>
      <p:pic>
        <p:nvPicPr>
          <p:cNvPr id="6" name="Picture 5" descr="04_일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463040"/>
            <a:ext cx="7040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6B2A91"/>
                </a:solidFill>
                <a:latin typeface="맑은 고딕"/>
              </a:rPr>
              <a:t>사정·상담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463040" cy="28575"/>
          </a:xfrm>
          <a:prstGeom prst="rect">
            <a:avLst/>
          </a:prstGeom>
          <a:solidFill>
            <a:srgbClr val="C02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맑은 고딕"/>
              </a:rPr>
              <a:t>욕구사정 9항목(지표30) · 상담 분기(지표25) · 결과평가 반기(지표44)</a:t>
            </a:r>
          </a:p>
        </p:txBody>
      </p:sp>
      <p:pic>
        <p:nvPicPr>
          <p:cNvPr id="6" name="Picture 5" descr="05_사정_상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463040"/>
            <a:ext cx="7040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6B2A91"/>
                </a:solidFill>
                <a:latin typeface="맑은 고딕"/>
              </a:rPr>
              <a:t>급여제공계획서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463040" cy="28575"/>
          </a:xfrm>
          <a:prstGeom prst="rect">
            <a:avLst/>
          </a:prstGeom>
          <a:solidFill>
            <a:srgbClr val="C02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맑은 고딕"/>
              </a:rPr>
              <a:t>별지 제11호의4서식. 급여 개시 전 작성·동의 후 공단 통보 안내 포함</a:t>
            </a:r>
          </a:p>
        </p:txBody>
      </p:sp>
      <p:pic>
        <p:nvPicPr>
          <p:cNvPr id="6" name="Picture 5" descr="06_급여제공계획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463040"/>
            <a:ext cx="7040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6B2A91"/>
                </a:solidFill>
                <a:latin typeface="맑은 고딕"/>
              </a:rPr>
              <a:t>대장·점검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463040" cy="28575"/>
          </a:xfrm>
          <a:prstGeom prst="rect">
            <a:avLst/>
          </a:prstGeom>
          <a:solidFill>
            <a:srgbClr val="C02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맑은 고딕"/>
              </a:rPr>
              <a:t>평가지표 기반 12종. 마지막 기록일로부터 며칠 지났는지 세어 기한 초과를 붉게</a:t>
            </a:r>
          </a:p>
        </p:txBody>
      </p:sp>
      <p:pic>
        <p:nvPicPr>
          <p:cNvPr id="6" name="Picture 5" descr="07_대장_점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463040"/>
            <a:ext cx="7040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6B2A91"/>
                </a:solidFill>
                <a:latin typeface="맑은 고딕"/>
              </a:rPr>
              <a:t>이용자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463040" cy="28575"/>
          </a:xfrm>
          <a:prstGeom prst="rect">
            <a:avLst/>
          </a:prstGeom>
          <a:solidFill>
            <a:srgbClr val="C02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맑은 고딕"/>
              </a:rPr>
              <a:t>명부·주의사항(낙상 위험 등)·오늘 안 채운 칸</a:t>
            </a:r>
          </a:p>
        </p:txBody>
      </p:sp>
      <p:pic>
        <p:nvPicPr>
          <p:cNvPr id="6" name="Picture 5" descr="08_이용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463040"/>
            <a:ext cx="7040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6B2A91"/>
                </a:solidFill>
                <a:latin typeface="맑은 고딕"/>
              </a:rPr>
              <a:t>기기 대장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463040" cy="28575"/>
          </a:xfrm>
          <a:prstGeom prst="rect">
            <a:avLst/>
          </a:prstGeom>
          <a:solidFill>
            <a:srgbClr val="C02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맑은 고딕"/>
              </a:rPr>
              <a:t>돌봄로봇·센서 + 매뉴얼·문의처 링크. 민간 ERP에 없는 화면</a:t>
            </a:r>
          </a:p>
        </p:txBody>
      </p:sp>
      <p:pic>
        <p:nvPicPr>
          <p:cNvPr id="6" name="Picture 5" descr="09_기기대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463040"/>
            <a:ext cx="7040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6B2A91"/>
                </a:solidFill>
                <a:latin typeface="맑은 고딕"/>
              </a:rPr>
              <a:t>근무표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463040" cy="28575"/>
          </a:xfrm>
          <a:prstGeom prst="rect">
            <a:avLst/>
          </a:prstGeom>
          <a:solidFill>
            <a:srgbClr val="C02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맑은 고딕"/>
              </a:rPr>
              <a:t>직원별 근무 지정(지표3·4 인력기준)</a:t>
            </a:r>
          </a:p>
        </p:txBody>
      </p:sp>
      <p:pic>
        <p:nvPicPr>
          <p:cNvPr id="6" name="Picture 5" descr="10_근무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463040"/>
            <a:ext cx="7040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6B2A91"/>
                </a:solidFill>
                <a:latin typeface="맑은 고딕"/>
              </a:rPr>
              <a:t>구매요청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463040" cy="28575"/>
          </a:xfrm>
          <a:prstGeom prst="rect">
            <a:avLst/>
          </a:prstGeom>
          <a:solidFill>
            <a:srgbClr val="C02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맑은 고딕"/>
              </a:rPr>
              <a:t>위생용품·프로그램 재료 등 요청·처리</a:t>
            </a:r>
          </a:p>
        </p:txBody>
      </p:sp>
      <p:pic>
        <p:nvPicPr>
          <p:cNvPr id="6" name="Picture 5" descr="11_구매요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463040"/>
            <a:ext cx="7040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6B2A91"/>
                </a:solidFill>
                <a:latin typeface="맑은 고딕"/>
              </a:rPr>
              <a:t>공지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463040" cy="28575"/>
          </a:xfrm>
          <a:prstGeom prst="rect">
            <a:avLst/>
          </a:prstGeom>
          <a:solidFill>
            <a:srgbClr val="C02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맑은 고딕"/>
              </a:rPr>
              <a:t>시설 공지</a:t>
            </a:r>
          </a:p>
        </p:txBody>
      </p:sp>
      <p:pic>
        <p:nvPicPr>
          <p:cNvPr id="6" name="Picture 5" descr="12_공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463040"/>
            <a:ext cx="7040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6B2A91"/>
                </a:solidFill>
                <a:latin typeface="맑은 고딕"/>
              </a:rPr>
              <a:t>건의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463040" cy="28575"/>
          </a:xfrm>
          <a:prstGeom prst="rect">
            <a:avLst/>
          </a:prstGeom>
          <a:solidFill>
            <a:srgbClr val="C02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맑은 고딕"/>
              </a:rPr>
              <a:t>현장 개선 의견 접수·처리</a:t>
            </a:r>
          </a:p>
        </p:txBody>
      </p:sp>
      <p:pic>
        <p:nvPicPr>
          <p:cNvPr id="6" name="Picture 5" descr="13_건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463040"/>
            <a:ext cx="7040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6B2A91"/>
                </a:solidFill>
                <a:latin typeface="맑은 고딕"/>
              </a:rPr>
              <a:t>직원·설정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463040" cy="28575"/>
          </a:xfrm>
          <a:prstGeom prst="rect">
            <a:avLst/>
          </a:prstGeom>
          <a:solidFill>
            <a:srgbClr val="C02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맑은 고딕"/>
              </a:rPr>
              <a:t>직원 등록 · PIN 발급(로그인) · 케어 항목 확인 · 전체 백업</a:t>
            </a:r>
          </a:p>
        </p:txBody>
      </p:sp>
      <p:pic>
        <p:nvPicPr>
          <p:cNvPr id="6" name="Picture 5" descr="14_직원_설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463040"/>
            <a:ext cx="7040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6B2A91"/>
                </a:solidFill>
                <a:latin typeface="맑은 고딕"/>
              </a:rPr>
              <a:t>다크 모드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463040" cy="28575"/>
          </a:xfrm>
          <a:prstGeom prst="rect">
            <a:avLst/>
          </a:prstGeom>
          <a:solidFill>
            <a:srgbClr val="C02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맑은 고딕"/>
              </a:rPr>
              <a:t>계정별로 기억. 본문 대비 13:1 — 순백은 눈부시고 낮추면 시력 저하자가 못 읽는다</a:t>
            </a:r>
          </a:p>
        </p:txBody>
      </p:sp>
      <p:pic>
        <p:nvPicPr>
          <p:cNvPr id="6" name="Picture 5" descr="15_다크모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463040"/>
            <a:ext cx="704088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